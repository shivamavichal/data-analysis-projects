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eebo Thin"/>
      <p:regular r:id="rId201314"/>
    </p:embeddedFont>
    <p:embeddedFont>
      <p:font typeface="Heebo ExtraLight"/>
      <p:regular r:id="rId201315"/>
    </p:embeddedFont>
    <p:embeddedFont>
      <p:font typeface="Heebo Light"/>
      <p:regular r:id="rId201316"/>
    </p:embeddedFont>
    <p:embeddedFont>
      <p:font typeface="Heebo"/>
      <p:regular r:id="rId201317"/>
    </p:embeddedFont>
    <p:embeddedFont>
      <p:font typeface="Heebo Medium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ExtraBold"/>
      <p:regular r:id="rId201321"/>
    </p:embeddedFont>
    <p:embeddedFont>
      <p:font typeface="Heebo Black"/>
      <p:regular r:id="rId201322"/>
    </p:embeddedFont>
    <p:embeddedFont>
      <p:font typeface="Montserrat Thin"/>
      <p:regular r:id="rId201323"/>
    </p:embeddedFont>
    <p:embeddedFont>
      <p:font typeface="Montserrat"/>
      <p:regular r:id="rId201324"/>
    </p:embeddedFont>
    <p:embeddedFont>
      <p:font typeface="Montserrat SemiBold"/>
      <p:regular r:id="rId201325"/>
    </p:embeddedFont>
    <p:embeddedFont>
      <p:font typeface="Montserrat Bold"/>
      <p:regular r:id="rId201326"/>
    </p:embeddedFont>
    <p:embeddedFont>
      <p:font typeface="Montserrat Black"/>
      <p:regular r:id="rId201327"/>
    </p:embeddedFont>
    <p:embeddedFont>
      <p:font typeface="Montserrat Light"/>
      <p:regular r:id="rId201328"/>
    </p:embeddedFont>
    <p:embeddedFont>
      <p:font typeface="Montserrat ExtraLight"/>
      <p:regular r:id="rId201329"/>
    </p:embeddedFont>
    <p:embeddedFont>
      <p:font typeface="Montserrat Medium"/>
      <p:regular r:id="rId201330"/>
    </p:embeddedFont>
    <p:embeddedFont>
      <p:font typeface="Montserrat ExtraBold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6.png"/><Relationship Id="rId9" Type="http://schemas.openxmlformats.org/officeDocument/2006/relationships/image" Target="../media/image-10-7.sv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Summary of insights from 3,900 transactions to guide product, pricing, and retention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8499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&amp; Dataset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83569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030090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336602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3,900 purchases across categories to uncover spending patterns, segments, and subscription behavior.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83569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030090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336602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18 columns: demographics, purchase details, behavior, payment, and shipping.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32138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67865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98517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37 nulls in Review Rating; handled during cleaning.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801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 &amp; Feature Engineering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3756"/>
            <a:ext cx="3932709" cy="22284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5675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719935" y="1241971"/>
            <a:ext cx="3932709" cy="14288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6" name="Text 3"/>
          <p:cNvSpPr/>
          <p:nvPr/>
        </p:nvSpPr>
        <p:spPr>
          <a:xfrm>
            <a:off x="4719935" y="1329184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19935" y="1609799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Loaded with pandas, checked df.info() and describe().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19935" y="1966689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19935" y="2140223"/>
            <a:ext cx="3932709" cy="14288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0" name="Text 7"/>
          <p:cNvSpPr/>
          <p:nvPr/>
        </p:nvSpPr>
        <p:spPr>
          <a:xfrm>
            <a:off x="4719935" y="2239119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19935" y="2519735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Filled missing Review Rating with category median.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19935" y="287662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19935" y="3038401"/>
            <a:ext cx="3932709" cy="14288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4" name="Text 11"/>
          <p:cNvSpPr/>
          <p:nvPr/>
        </p:nvSpPr>
        <p:spPr>
          <a:xfrm>
            <a:off x="4719935" y="3149054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19935" y="3429670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Renamed to snake_case; created age_group and purchase_frequency_days.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19935" y="3786560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19935" y="3936653"/>
            <a:ext cx="3932709" cy="14288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19935" y="4058989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Pruning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719935" y="4339605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Dropped redundant promo_code_used after checking discount_applied.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90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Integration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14079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2382069"/>
            <a:ext cx="432777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Connected cleaned DataFrame to PostgreSQL for structured SQL analysis and reporting.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Enabled repeatable queries for revenue, segmentation, and product-level metrics.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961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SQL Findings — Revenue &amp; Demographics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362670"/>
            <a:ext cx="315590" cy="3155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818754"/>
            <a:ext cx="4722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Gender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925119" y="2083445"/>
            <a:ext cx="47227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Female: 75,191 • Male: 157,890 — clear skew toward male revenue in this dataset.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99271"/>
            <a:ext cx="315590" cy="3155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955354"/>
            <a:ext cx="4722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Age Group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925119" y="3220045"/>
            <a:ext cx="47227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Young Adult: 62,143 • Middle-aged: 59,197 • Adult: 55,978 • Senior: 55,763.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635871"/>
            <a:ext cx="315590" cy="3155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4091955"/>
            <a:ext cx="4722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 vs Non-Subscribers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925119" y="4356646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Subscribers (1,053): avg $59.49; Non-subscribers (2,847): avg $59.87. Non-subscribers drive larger total revenue.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&amp; Discount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2208461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Top-rated products: Gloves (3.86), Sandals (3.84), Boots (3.82), Hat (3.80), Skirt (3.78).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Discount-heavy items: Hat (50%), Sneakers (49.66%), Coat (49.07%), Sweater (48.17%), Pants (47.37%).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High-spending discount users: 839 rows flagged — customers who used discounts but spent above average.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74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 &amp;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03983"/>
            <a:ext cx="753740" cy="942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103983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Segment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410495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3,116 customers classified as Loyal — prime targets for retention and upsell.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103983"/>
            <a:ext cx="753740" cy="942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103983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&amp; Returning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410495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New: 83 • Returning: 701 — small but important growth cohorts.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103983"/>
            <a:ext cx="753740" cy="942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103983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Frequency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631951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Engineered purchase_frequency_days to understand cadence and subscription propensity.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Shipping &amp; Payment Patterns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2180109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Shipping comparison: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534469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Standard avg purchase: $58.46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Express avg purchase: $60.48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16520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Payment method: PayPal frequently used; shipping choice correlates modestly with purchase amount.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47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76363"/>
            <a:ext cx="305313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Interactive visuals created to surface subscription mix, revenue by category, top sellers, and age-group performance.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784351"/>
            <a:ext cx="3053135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3.9K customers • Avg purchase $59.76 • Avg rating 3.75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Subscription split: Yes 27% / No 73%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892" y="1359843"/>
            <a:ext cx="4752677" cy="26931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37190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Dashboard supports filtering by gender, category, and shipping type for exploratory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1716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Recommendations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42008"/>
            <a:ext cx="2307134" cy="14656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1530" y="1080269"/>
            <a:ext cx="19734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91530" y="1339230"/>
            <a:ext cx="197346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Promote exclusive subscriber benefits to increase recurring revenue and retention.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1748" y="942008"/>
            <a:ext cx="2307134" cy="14656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07159" y="1080269"/>
            <a:ext cx="19734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Loyalty Programs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107159" y="1339230"/>
            <a:ext cx="1973461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Reward repeat buyers to convert Returning customers into Loyal segment (3,116 existing loyal customers show program potential).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516163"/>
            <a:ext cx="2307134" cy="14734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1530" y="2654424"/>
            <a:ext cx="19734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Discount Policy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91530" y="2913385"/>
            <a:ext cx="197346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 discounts (high on hats, sneakers) with margin control; target discounts to high-conversion items.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11748" y="2516163"/>
            <a:ext cx="2307134" cy="14734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107159" y="2654424"/>
            <a:ext cx="197346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Positioning &amp; Targeting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3107159" y="3107234"/>
            <a:ext cx="197346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Highlight top-rated and best-selling items in campaigns; focus marketing on high-revenue age groups and express-shipping users.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496119" y="4111675"/>
            <a:ext cx="4722763" cy="640110"/>
          </a:xfrm>
          <a:prstGeom prst="roundRect">
            <a:avLst>
              <a:gd name="adj" fmla="val 8139"/>
            </a:avLst>
          </a:prstGeom>
          <a:solidFill>
            <a:srgbClr val="31136C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092" y="4286696"/>
            <a:ext cx="155004" cy="12397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9071" y="4251127"/>
            <a:ext cx="4195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Next step: operationalize dashboards and run targeted campaigns for subscribers and loyal customers.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2026-07-15T15:57:28Z</dcterms:created>
  <dcterms:modified xsi:type="dcterms:W3CDTF">2026-07-15T15:57:28Z</dcterms:modified>
</cp:coreProperties>
</file>